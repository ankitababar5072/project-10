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640080"/>
            <a:ext cx="1828800" cy="1828800"/>
          </a:xfrm>
          <a:prstGeom prst="ellipse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1828800"/>
            <a:ext cx="1097280" cy="1097280"/>
          </a:xfrm>
          <a:prstGeom prst="ellipse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2377440"/>
            <a:ext cx="731520" cy="731520"/>
          </a:xfrm>
          <a:prstGeom prst="ellipse">
            <a:avLst/>
          </a:prstGeom>
          <a:solidFill>
            <a:srgbClr val="4B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7772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CUSTOM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38528"/>
            <a:ext cx="78638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300" b="1">
                <a:solidFill>
                  <a:srgbClr val="91E1DA"/>
                </a:solidFill>
                <a:latin typeface="Aptos"/>
              </a:defRPr>
            </a:pPr>
            <a:r>
              <a:t>WITH YOLOv3 OBJECT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Automated Text Extraction from Medical Lab Reports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886200"/>
            <a:ext cx="1051560" cy="64008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64008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Presented by: Ankita Babar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1091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0">
                <a:solidFill>
                  <a:srgbClr val="BECADD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697587"/>
                </a:solidFill>
                <a:latin typeface="Aptos"/>
              </a:defRPr>
            </a:pPr>
            <a:r>
              <a:t>What the project aims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324612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3090672" cy="2496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Aptos"/>
              </a:defRPr>
            </a:pPr>
            <a:r>
              <a:t>Images of medical laboratory reports containing patient details, test names, values, units and reference ranges.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73152" cy="3246120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50592"/>
            <a:ext cx="3090672" cy="2496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Aptos"/>
              </a:defRPr>
            </a:pPr>
            <a:r>
              <a:t>Image preprocessing improves readability. OCR reads text, while object detection can locate relevant fields.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47472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828800"/>
            <a:ext cx="73152" cy="324612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99339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450592"/>
            <a:ext cx="3090672" cy="2496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Aptos"/>
              </a:defRPr>
            </a:pPr>
            <a:r>
              <a:t>Extracted text can be organized into digital records for review, search and further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532120"/>
            <a:ext cx="10241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142341"/>
                </a:solidFill>
                <a:latin typeface="Aptos"/>
              </a:defRPr>
            </a:pPr>
            <a:r>
              <a:t>Goal: reduce repetitive manual data entry while keeping human review in the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697587"/>
                </a:solidFill>
                <a:latin typeface="Aptos"/>
              </a:defRPr>
            </a:pPr>
            <a:r>
              <a:t>Why automate lab-report reading?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•  Medical reports are often shared as scanned images or photographs.</a:t>
            </a:r>
          </a:p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•  Manually copying results into digital records takes time and can introduce typing errors.</a:t>
            </a:r>
          </a:p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•  Important information may appear in different positions and formats across reports.</a:t>
            </a:r>
          </a:p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•  A computer-vision and OCR workflow can help locate fields and extract readable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715000"/>
            <a:ext cx="104241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0">
                <a:solidFill>
                  <a:srgbClr val="697587"/>
                </a:solidFill>
                <a:latin typeface="Aptos"/>
              </a:defRPr>
            </a:pPr>
            <a:r>
              <a:t>Note: extracted text must be checked against the original report, especially before any clinical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54480"/>
            <a:ext cx="530352" cy="530352"/>
          </a:xfrm>
          <a:prstGeom prst="ellipse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73352"/>
            <a:ext cx="530352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54480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Read report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6583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Load JPG/PNG images and prepare them for processing.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423160"/>
            <a:ext cx="530352" cy="530352"/>
          </a:xfrm>
          <a:prstGeom prst="ellipse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530352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23160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Improve image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6583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Convert to grayscale, resize and apply thresholding.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291839"/>
            <a:ext cx="530352" cy="530352"/>
          </a:xfrm>
          <a:prstGeom prst="ellipse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10711"/>
            <a:ext cx="530352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39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Extract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91839"/>
            <a:ext cx="6583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Use Tesseract OCR to recognize printed text.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160520"/>
            <a:ext cx="530352" cy="530352"/>
          </a:xfrm>
          <a:prstGeom prst="ellipse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79392"/>
            <a:ext cx="530352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160520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Detect key regions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60520"/>
            <a:ext cx="6583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Use YOLOv3-style detection to locate report fields after annotation and training.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5029200"/>
            <a:ext cx="530352" cy="530352"/>
          </a:xfrm>
          <a:prstGeom prst="ellipse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48072"/>
            <a:ext cx="530352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029200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Save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29200"/>
            <a:ext cx="6583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Store extracted text and processing status in CSV/TXT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Existing System vs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0749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73152" cy="4114800"/>
          </a:xfrm>
          <a:prstGeom prst="rect">
            <a:avLst/>
          </a:prstGeom>
          <a:solidFill>
            <a:srgbClr val="828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6232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Manual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13432"/>
            <a:ext cx="4690872" cy="33649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0">
                <a:solidFill>
                  <a:srgbClr val="2D3748"/>
                </a:solidFill>
                <a:latin typeface="Aptos"/>
              </a:defRPr>
            </a:pPr>
            <a:r>
              <a:t>• Open each report image</a:t>
            </a:r>
            <a:br/>
            <a:br/>
            <a:r>
              <a:t>• Read each field manually</a:t>
            </a:r>
            <a:br/>
            <a:br/>
            <a:r>
              <a:t>• Type results into a spreadsheet</a:t>
            </a:r>
            <a:br/>
            <a:br/>
            <a:r>
              <a:t>• Risk of slow processing and transcription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0749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73152" cy="4114800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856232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Proposed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313432"/>
            <a:ext cx="4690872" cy="33649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0">
                <a:solidFill>
                  <a:srgbClr val="2D3748"/>
                </a:solidFill>
                <a:latin typeface="Aptos"/>
              </a:defRPr>
            </a:pPr>
            <a:r>
              <a:t>• Load report images in batches</a:t>
            </a:r>
            <a:br/>
            <a:br/>
            <a:r>
              <a:t>• Preprocess images for OCR</a:t>
            </a:r>
            <a:br/>
            <a:br/>
            <a:r>
              <a:t>• Extract text automatically</a:t>
            </a:r>
            <a:br/>
            <a:br/>
            <a:r>
              <a:t>• Add object detection to identify target fields</a:t>
            </a:r>
            <a:br/>
            <a:br/>
            <a:r>
              <a:t>• Save outputs for human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697587"/>
                </a:solidFill>
                <a:latin typeface="Aptos"/>
              </a:defRPr>
            </a:pPr>
            <a:r>
              <a:t>Tools selected for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73152" cy="160020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5623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13432"/>
            <a:ext cx="3090672" cy="8503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0">
                <a:solidFill>
                  <a:srgbClr val="2D3748"/>
                </a:solidFill>
                <a:latin typeface="Aptos"/>
              </a:defRPr>
            </a:pPr>
            <a:r>
              <a:t>Main programming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91640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691640"/>
            <a:ext cx="73152" cy="1600200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85623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OpenCV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313432"/>
            <a:ext cx="3090672" cy="8503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0">
                <a:solidFill>
                  <a:srgbClr val="2D3748"/>
                </a:solidFill>
                <a:latin typeface="Aptos"/>
              </a:defRPr>
            </a:pPr>
            <a:r>
              <a:t>Image loading and preprocessing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691640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691640"/>
            <a:ext cx="73152" cy="160020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85623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Tesseract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313432"/>
            <a:ext cx="3090672" cy="8503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0">
                <a:solidFill>
                  <a:srgbClr val="2D3748"/>
                </a:solidFill>
                <a:latin typeface="Aptos"/>
              </a:defRPr>
            </a:pPr>
            <a:r>
              <a:t>Printed-text recognition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703320"/>
            <a:ext cx="73152" cy="1600200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86791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pytesseract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325112"/>
            <a:ext cx="3090672" cy="8503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0">
                <a:solidFill>
                  <a:srgbClr val="2D3748"/>
                </a:solidFill>
                <a:latin typeface="Aptos"/>
              </a:defRPr>
            </a:pPr>
            <a:r>
              <a:t>Python interface to Tesseract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703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703320"/>
            <a:ext cx="73152" cy="160020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386791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YOLOv3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325112"/>
            <a:ext cx="3090672" cy="8503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0">
                <a:solidFill>
                  <a:srgbClr val="2D3748"/>
                </a:solidFill>
                <a:latin typeface="Aptos"/>
              </a:defRPr>
            </a:pPr>
            <a:r>
              <a:t>Object detection approach for field localization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703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3703320"/>
            <a:ext cx="73152" cy="1600200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28" y="386791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Google Colab + Drive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4325112"/>
            <a:ext cx="3090672" cy="8503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0">
                <a:solidFill>
                  <a:srgbClr val="2D3748"/>
                </a:solidFill>
                <a:latin typeface="Aptos"/>
              </a:defRPr>
            </a:pPr>
            <a:r>
              <a:t>Notebook execution and project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Dataset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697587"/>
                </a:solidFill>
                <a:latin typeface="Aptos"/>
              </a:defRPr>
            </a:pPr>
            <a:r>
              <a:t>Medical laboratory report image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219456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4800" b="1">
                <a:solidFill>
                  <a:srgbClr val="2864B4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23774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1">
                <a:solidFill>
                  <a:srgbClr val="697587"/>
                </a:solidFill>
                <a:latin typeface="Aptos"/>
              </a:defRPr>
            </a:pPr>
            <a:r>
              <a:t>report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965960"/>
            <a:ext cx="21945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697587"/>
                </a:solidFill>
                <a:latin typeface="Aptos"/>
              </a:defRPr>
            </a:pPr>
            <a:r>
              <a:t>Image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331720"/>
            <a:ext cx="27432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200" b="1">
                <a:solidFill>
                  <a:srgbClr val="142341"/>
                </a:solidFill>
                <a:latin typeface="Aptos"/>
              </a:defRPr>
            </a:pPr>
            <a:r>
              <a:t>JPG / image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00400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697587"/>
                </a:solidFill>
                <a:latin typeface="Aptos"/>
              </a:defRPr>
            </a:pPr>
            <a:r>
              <a:t>Target field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657600"/>
            <a:ext cx="2971800" cy="384048"/>
          </a:xfrm>
          <a:prstGeom prst="roundRect">
            <a:avLst/>
          </a:prstGeom>
          <a:solidFill>
            <a:srgbClr val="E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41648" y="3721608"/>
            <a:ext cx="2743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42341"/>
                </a:solidFill>
                <a:latin typeface="Aptos"/>
              </a:defRPr>
            </a:pPr>
            <a:r>
              <a:t>patient_details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3657600"/>
            <a:ext cx="2971800" cy="384048"/>
          </a:xfrm>
          <a:prstGeom prst="roundRect">
            <a:avLst/>
          </a:prstGeom>
          <a:solidFill>
            <a:srgbClr val="DD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3488" y="3721608"/>
            <a:ext cx="2743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42341"/>
                </a:solidFill>
                <a:latin typeface="Aptos"/>
              </a:defRPr>
            </a:pPr>
            <a:r>
              <a:t>test_name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4251960"/>
            <a:ext cx="2971800" cy="384048"/>
          </a:xfrm>
          <a:prstGeom prst="roundRect">
            <a:avLst/>
          </a:prstGeom>
          <a:solidFill>
            <a:srgbClr val="E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41648" y="4315968"/>
            <a:ext cx="2743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42341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4251960"/>
            <a:ext cx="2971800" cy="384048"/>
          </a:xfrm>
          <a:prstGeom prst="roundRect">
            <a:avLst/>
          </a:prstGeom>
          <a:solidFill>
            <a:srgbClr val="DD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4315968"/>
            <a:ext cx="2743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42341"/>
                </a:solidFill>
                <a:latin typeface="Aptos"/>
              </a:defRPr>
            </a:pPr>
            <a:r>
              <a:t>units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4846320"/>
            <a:ext cx="2971800" cy="384048"/>
          </a:xfrm>
          <a:prstGeom prst="roundRect">
            <a:avLst/>
          </a:prstGeom>
          <a:solidFill>
            <a:srgbClr val="E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4910328"/>
            <a:ext cx="2743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42341"/>
                </a:solidFill>
                <a:latin typeface="Aptos"/>
              </a:defRPr>
            </a:pPr>
            <a:r>
              <a:t>reference_range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0644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0">
                <a:solidFill>
                  <a:srgbClr val="697587"/>
                </a:solidFill>
                <a:latin typeface="Aptos"/>
              </a:defRPr>
            </a:pPr>
            <a:r>
              <a:t>Important: object-detection training requires correct bounding-box annotations for each target field.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Dataset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697587"/>
                </a:solidFill>
                <a:latin typeface="Aptos"/>
              </a:defRPr>
            </a:pPr>
            <a:r>
              <a:t>Current image split created in Google 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057400"/>
            <a:ext cx="8119872" cy="59436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221992"/>
            <a:ext cx="8065008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Train: 80%</a:t>
            </a:r>
          </a:p>
        </p:txBody>
      </p:sp>
      <p:sp>
        <p:nvSpPr>
          <p:cNvPr id="8" name="Rectangle 7"/>
          <p:cNvSpPr/>
          <p:nvPr/>
        </p:nvSpPr>
        <p:spPr>
          <a:xfrm>
            <a:off x="9125712" y="2057400"/>
            <a:ext cx="1014984" cy="594360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3144" y="2221992"/>
            <a:ext cx="960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Validation: 10%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0696" y="2057400"/>
            <a:ext cx="1014984" cy="594360"/>
          </a:xfrm>
          <a:prstGeom prst="rect">
            <a:avLst/>
          </a:prstGeom>
          <a:solidFill>
            <a:srgbClr val="6E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8128" y="2221992"/>
            <a:ext cx="960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Test: 10%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246120"/>
            <a:ext cx="228600" cy="228600"/>
          </a:xfrm>
          <a:prstGeom prst="ellipse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182112"/>
            <a:ext cx="17373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11880"/>
            <a:ext cx="2103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697587"/>
                </a:solidFill>
                <a:latin typeface="Aptos"/>
              </a:defRPr>
            </a:pPr>
            <a:r>
              <a:t>80 images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246120"/>
            <a:ext cx="228600" cy="228600"/>
          </a:xfrm>
          <a:prstGeom prst="ellipse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182112"/>
            <a:ext cx="17373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611880"/>
            <a:ext cx="2103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697587"/>
                </a:solidFill>
                <a:latin typeface="Aptos"/>
              </a:defRPr>
            </a:pPr>
            <a:r>
              <a:t>10 images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0" y="3246120"/>
            <a:ext cx="228600" cy="228600"/>
          </a:xfrm>
          <a:prstGeom prst="ellipse">
            <a:avLst/>
          </a:prstGeom>
          <a:solidFill>
            <a:srgbClr val="6E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182112"/>
            <a:ext cx="17373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611880"/>
            <a:ext cx="2103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697587"/>
                </a:solidFill>
                <a:latin typeface="Aptos"/>
              </a:defRPr>
            </a:pPr>
            <a:r>
              <a:t>10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99669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700" b="1">
                <a:solidFill>
                  <a:srgbClr val="2D3748"/>
                </a:solidFill>
                <a:latin typeface="Aptos"/>
              </a:defRPr>
            </a:pPr>
            <a:r>
              <a:t>The split contains images. Matching label files still need to be available for YOLO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YOLOv3 Object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697587"/>
                </a:solidFill>
                <a:latin typeface="Aptos"/>
              </a:defRPr>
            </a:pPr>
            <a:r>
              <a:t>Purpose in the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324612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73152" cy="342900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856232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13432"/>
            <a:ext cx="2862072" cy="2679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Aptos"/>
              </a:defRPr>
            </a:pPr>
            <a:r>
              <a:t>Detects objects or regions in an image and predicts a bounding box and class for each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24612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91640"/>
            <a:ext cx="73152" cy="3429000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856232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Target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13432"/>
            <a:ext cx="2862072" cy="2679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Aptos"/>
              </a:defRPr>
            </a:pPr>
            <a:r>
              <a:t>Patient details</a:t>
            </a:r>
            <a:br/>
            <a:r>
              <a:t>Test name</a:t>
            </a:r>
            <a:br/>
            <a:r>
              <a:t>Value</a:t>
            </a:r>
            <a:br/>
            <a:r>
              <a:t>Units</a:t>
            </a:r>
            <a:br/>
            <a:r>
              <a:t>Reference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24612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73152" cy="342900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56232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Current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13432"/>
            <a:ext cx="2862072" cy="2679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Dataset folders and data.yaml are set up. Valid annotated labels and model training are separate next steps.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577840"/>
            <a:ext cx="10332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0">
                <a:solidFill>
                  <a:srgbClr val="697587"/>
                </a:solidFill>
                <a:latin typeface="Aptos"/>
              </a:defRPr>
            </a:pPr>
            <a:r>
              <a:t>A model should only be described as trained after it has been trained on valid labeled data and evaluated.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OCR with Tesseract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697587"/>
                </a:solidFill>
                <a:latin typeface="Aptos"/>
              </a:defRPr>
            </a:pPr>
            <a:r>
              <a:t>Text recognition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1600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16152" y="1993392"/>
            <a:ext cx="502920" cy="502920"/>
          </a:xfrm>
          <a:prstGeom prst="ellipse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12140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14173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Load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51760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1E96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2286000"/>
            <a:ext cx="1600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36392" y="1993392"/>
            <a:ext cx="502920" cy="502920"/>
          </a:xfrm>
          <a:prstGeom prst="ellipse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212140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33472"/>
            <a:ext cx="14173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Grayscale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651760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1E96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286000"/>
            <a:ext cx="1600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56632" y="1993392"/>
            <a:ext cx="502920" cy="502920"/>
          </a:xfrm>
          <a:prstGeom prst="ellipse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2" y="212140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33472"/>
            <a:ext cx="14173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Resize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51760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1E96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286000"/>
            <a:ext cx="1600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76872" y="1993392"/>
            <a:ext cx="502920" cy="502920"/>
          </a:xfrm>
          <a:prstGeom prst="ellipse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212140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33472"/>
            <a:ext cx="14173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651760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1E96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2286000"/>
            <a:ext cx="1600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97112" y="1993392"/>
            <a:ext cx="502920" cy="502920"/>
          </a:xfrm>
          <a:prstGeom prst="ellipse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7112" y="212140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633472"/>
            <a:ext cx="14173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Tesseract OCR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651760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1E96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87000" y="2286000"/>
            <a:ext cx="1600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17352" y="1993392"/>
            <a:ext cx="502920" cy="502920"/>
          </a:xfrm>
          <a:prstGeom prst="ellipse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17352" y="212140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2633472"/>
            <a:ext cx="14173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Save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700" b="0">
                <a:solidFill>
                  <a:srgbClr val="2D3748"/>
                </a:solidFill>
                <a:latin typeface="Aptos"/>
              </a:defRPr>
            </a:pPr>
            <a:r>
              <a:t>Preprocessing can improve recognition, but OCR output may still contain errors due to blur, skew, layout or image quality.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697587"/>
                </a:solidFill>
                <a:latin typeface="Aptos"/>
              </a:defRPr>
            </a:pPr>
            <a:r>
              <a:t>All extracted medical values should be verified against the source image.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4884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468880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Input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80360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697587"/>
                </a:solidFill>
                <a:latin typeface="Aptos"/>
              </a:defRPr>
            </a:pPr>
            <a:r>
              <a:t>100 report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1136" y="2670048"/>
            <a:ext cx="25603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1E96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214884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6896" y="2468880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2880360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697587"/>
                </a:solidFill>
                <a:latin typeface="Aptos"/>
              </a:defRPr>
            </a:pPr>
            <a:r>
              <a:t>OpenCV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4" y="2670048"/>
            <a:ext cx="25603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1E96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214884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468880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880360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697587"/>
                </a:solidFill>
                <a:latin typeface="Aptos"/>
              </a:defRPr>
            </a:pPr>
            <a:r>
              <a:t>Extract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670048"/>
            <a:ext cx="25603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1E96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214884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468880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Field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880360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697587"/>
                </a:solidFill>
                <a:latin typeface="Aptos"/>
              </a:defRPr>
            </a:pPr>
            <a:r>
              <a:t>YOLO +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670048"/>
            <a:ext cx="25603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1E96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14884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468880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80360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697587"/>
                </a:solidFill>
                <a:latin typeface="Aptos"/>
              </a:defRPr>
            </a:pPr>
            <a:r>
              <a:t>CSV / TXT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670048"/>
            <a:ext cx="25603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1E96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59568" y="214884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1008" y="2468880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51008" y="2880360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697587"/>
                </a:solidFill>
                <a:latin typeface="Aptos"/>
              </a:defRPr>
            </a:pPr>
            <a:r>
              <a:t>Human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663440"/>
            <a:ext cx="101498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700" b="0">
                <a:solidFill>
                  <a:srgbClr val="2D3748"/>
                </a:solidFill>
                <a:latin typeface="Aptos"/>
              </a:defRPr>
            </a:pPr>
            <a:r>
              <a:t>OCR can run independently of YOLO; object detection adds field localization when trained weights and annotations are ready.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Project Folder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697587"/>
                </a:solidFill>
                <a:latin typeface="Aptos"/>
              </a:defRPr>
            </a:pPr>
            <a:r>
              <a:t>Created in Google 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9875520" cy="4389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Consolas"/>
              </a:defRPr>
            </a:pPr>
            <a:r>
              <a:t>Custom_OCR_YOLOv3/</a:t>
            </a:r>
            <a:br/>
            <a:r>
              <a:t>├── images/                  (original images)</a:t>
            </a:r>
            <a:br/>
            <a:r>
              <a:t>├── train/images/            (80 images)</a:t>
            </a:r>
            <a:br/>
            <a:r>
              <a:t>├── train/labels/            (label files needed)</a:t>
            </a:r>
            <a:br/>
            <a:r>
              <a:t>├── val/images/              (10 images)</a:t>
            </a:r>
            <a:br/>
            <a:r>
              <a:t>├── val/labels/              (label files needed)</a:t>
            </a:r>
            <a:br/>
            <a:r>
              <a:t>├── test/images/             (10 images)</a:t>
            </a:r>
            <a:br/>
            <a:r>
              <a:t>├── test/labels/             (label files needed)</a:t>
            </a:r>
            <a:br/>
            <a:r>
              <a:t>├── model/                   (model files)</a:t>
            </a:r>
            <a:br/>
            <a:r>
              <a:t>├── results/                 (outputs)</a:t>
            </a:r>
            <a:br/>
            <a:r>
              <a:t>└── data.yaml                (dataset configuration)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8932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0">
                <a:solidFill>
                  <a:srgbClr val="697587"/>
                </a:solidFill>
                <a:latin typeface="Aptos"/>
              </a:defRPr>
            </a:pPr>
            <a:r>
              <a:t>Folder setup is complete; label files and trained model weights must be confirmed separately.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Implementation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697587"/>
                </a:solidFill>
                <a:latin typeface="Aptos"/>
              </a:defRPr>
            </a:pPr>
            <a:r>
              <a:t>Accurate status as of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4290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73152" cy="3520440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56232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13432"/>
            <a:ext cx="3044952" cy="2770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Project folders created</a:t>
            </a:r>
            <a:br/>
            <a:r>
              <a:t>• 100 images collected into project</a:t>
            </a:r>
            <a:br/>
            <a:r>
              <a:t>• 80/10/10 image split created</a:t>
            </a:r>
            <a:br/>
            <a:r>
              <a:t>• data.yaml generated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73152" cy="352044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To verify /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13432"/>
            <a:ext cx="3044952" cy="2770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OCR batch processing output</a:t>
            </a:r>
            <a:br/>
            <a:r>
              <a:t>• Exported annotation files</a:t>
            </a:r>
            <a:br/>
            <a:r>
              <a:t>• Label-to-image matching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91640"/>
            <a:ext cx="34290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691640"/>
            <a:ext cx="73152" cy="3520440"/>
          </a:xfrm>
          <a:prstGeom prst="rect">
            <a:avLst/>
          </a:prstGeom>
          <a:solidFill>
            <a:srgbClr val="6E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856232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Future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313432"/>
            <a:ext cx="3044952" cy="2770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Train YOLO model with valid labels</a:t>
            </a:r>
            <a:br/>
            <a:r>
              <a:t>• Evaluate on test set</a:t>
            </a:r>
            <a:br/>
            <a:r>
              <a:t>• Inspect and refine OCR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142341"/>
                </a:solidFill>
                <a:latin typeface="Aptos"/>
              </a:defRPr>
            </a:pPr>
            <a:r>
              <a:t>Do not report accuracy or model-training results until they have been measured.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000" b="1">
                <a:solidFill>
                  <a:srgbClr val="69758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9834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91640"/>
            <a:ext cx="73152" cy="4023360"/>
          </a:xfrm>
          <a:prstGeom prst="rect">
            <a:avLst/>
          </a:prstGeom>
          <a:solidFill>
            <a:srgbClr val="6E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856232"/>
            <a:ext cx="4617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13432"/>
            <a:ext cx="4599432" cy="32735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OCR quality depends on image clarity</a:t>
            </a:r>
            <a:br/>
            <a:br/>
            <a:r>
              <a:t>• Different report layouts can affect extraction</a:t>
            </a:r>
            <a:br/>
            <a:br/>
            <a:r>
              <a:t>• YOLO requires accurate bounding-box annotations</a:t>
            </a:r>
            <a:br/>
            <a:br/>
            <a:r>
              <a:t>• Medical content needs human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49834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73152" cy="4023360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856232"/>
            <a:ext cx="4617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313432"/>
            <a:ext cx="4599432" cy="32735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Annotate more images consistently</a:t>
            </a:r>
            <a:br/>
            <a:br/>
            <a:r>
              <a:t>• Train and evaluate a field-detection model</a:t>
            </a:r>
            <a:br/>
            <a:br/>
            <a:r>
              <a:t>• Parse OCR text into structured fields</a:t>
            </a:r>
            <a:br/>
            <a:br/>
            <a:r>
              <a:t>• Add a simple upload-and-results interface</a:t>
            </a:r>
            <a:br/>
            <a:br/>
            <a:r>
              <a:t>• Protect sensitive patient information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554480"/>
            <a:ext cx="1005840" cy="64008"/>
          </a:xfrm>
          <a:prstGeom prst="rect">
            <a:avLst/>
          </a:prstGeom>
          <a:solidFill>
            <a:srgbClr val="1E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987552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This project explores how computer vision and OCR can help digitize medical lab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6926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0">
                <a:solidFill>
                  <a:srgbClr val="CFDAEB"/>
                </a:solidFill>
                <a:latin typeface="Aptos"/>
              </a:defRPr>
            </a:pPr>
            <a:r>
              <a:t>The image dataset and configuration structure are prepared. The next milestone is to validate OCR outputs and complete annotated-data preparation before YOLO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45720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91E1D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OCR with YOLOv3 Object Detection</dc:title>
  <dc:subject>Automated Text Extraction from Medical Lab Reports</dc:subject>
  <dc:creator>Ankita Babar</dc:creator>
  <cp:keywords>OCR, YOLOv3, Tesseract, OpenCV, Medical Lab Reports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